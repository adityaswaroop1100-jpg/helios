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57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973E"/>
                </a:solidFill>
                <a:latin typeface="JetBrains Mono"/>
              </a:defRPr>
            </a:pPr>
            <a:r>
              <a:t>ORION 1.0</a:t>
            </a:r>
          </a:p>
          <a:p>
            <a:pPr algn="ctr">
              <a:spcBef>
                <a:spcPts val="1000"/>
              </a:spcBef>
              <a:defRPr sz="5600" b="1">
                <a:solidFill>
                  <a:srgbClr val="EEF2F6"/>
                </a:solidFill>
                <a:latin typeface="Plus Jakarta Sans"/>
              </a:defRPr>
            </a:pPr>
            <a:r>
              <a:t>HELIOS</a:t>
            </a:r>
          </a:p>
          <a:p>
            <a:pPr algn="ctr">
              <a:spcBef>
                <a:spcPts val="600"/>
              </a:spcBef>
              <a:defRPr sz="1800" b="0">
                <a:solidFill>
                  <a:srgbClr val="C9973E"/>
                </a:solidFill>
                <a:latin typeface="Plus Jakarta Sans"/>
              </a:defRPr>
            </a:pPr>
            <a:r>
              <a:t>AUTONOMOUS SOLAR SCADA &amp; 3D DIGITAL TWIN</a:t>
            </a:r>
          </a:p>
          <a:p>
            <a:pPr algn="ctr">
              <a:spcBef>
                <a:spcPts val="2800"/>
              </a:spcBef>
              <a:defRPr sz="1300">
                <a:solidFill>
                  <a:srgbClr val="7A8BA3"/>
                </a:solidFill>
                <a:latin typeface="Plus Jakarta Sans"/>
              </a:defRPr>
            </a:pPr>
            <a:r>
              <a:t>Physics-First Kinematics  •  XGBoost R² 0.9989 Forecasting  •  Sub-12ms BESS Dispatch</a:t>
            </a:r>
          </a:p>
          <a:p>
            <a:pPr algn="ctr">
              <a:spcBef>
                <a:spcPts val="3600"/>
              </a:spcBef>
              <a:defRPr sz="1100">
                <a:solidFill>
                  <a:srgbClr val="4A5A72"/>
                </a:solidFill>
                <a:latin typeface="JetBrains Mono"/>
              </a:defRPr>
            </a:pPr>
            <a:r>
              <a:t>IEC 61724 • IEEE 1547 COMPLIANT  |  Chengalpattu Utility Node (48.0 kW DC)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EF2F6"/>
                </a:solidFill>
                <a:latin typeface="Plus Jakarta Sans"/>
              </a:defRPr>
            </a:pPr>
            <a:r>
              <a:t>  The Problem Statement</a:t>
            </a:r>
          </a:p>
          <a:p>
            <a:pPr>
              <a:spcBef>
                <a:spcPts val="400"/>
              </a:spcBef>
              <a:defRPr sz="1300">
                <a:solidFill>
                  <a:srgbClr val="7A8BA3"/>
                </a:solidFill>
                <a:latin typeface="Plus Jakarta Sans"/>
              </a:defRPr>
            </a:pPr>
            <a:r>
              <a:t>Bridging the critical gap between generation variability &amp; grid stability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73152" cy="347472"/>
          </a:xfrm>
          <a:prstGeom prst="rect">
            <a:avLst/>
          </a:prstGeom>
          <a:solidFill>
            <a:srgbClr val="C9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C9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9973E"/>
                </a:solidFill>
                <a:latin typeface="JetBrains Mono"/>
              </a:defRPr>
            </a:pPr>
            <a:r>
              <a:t>LATENCY CHALLENGE</a:t>
            </a:r>
          </a:p>
          <a:p>
            <a:pPr>
              <a:spcBef>
                <a:spcPts val="800"/>
              </a:spcBef>
              <a:defRPr sz="1700" b="1">
                <a:solidFill>
                  <a:srgbClr val="EEF2F6"/>
                </a:solidFill>
                <a:latin typeface="Plus Jakarta Sans"/>
              </a:defRPr>
            </a:pPr>
            <a:r>
              <a:t>Sub-Second Fault Blindness</a:t>
            </a:r>
          </a:p>
          <a:p>
            <a:pPr>
              <a:spcBef>
                <a:spcPts val="1400"/>
              </a:spcBef>
              <a:defRPr sz="1200">
                <a:solidFill>
                  <a:srgbClr val="7A8BA3"/>
                </a:solidFill>
                <a:latin typeface="Plus Jakarta Sans"/>
              </a:defRPr>
            </a:pPr>
            <a:r>
              <a:t>Traditional SCADA systems take &gt;200ms to detect string-level voltage collapse, leading to reverse-power grid penalties, DC arc flash risks, and immediate central inverter trips.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DD0E1"/>
                </a:solidFill>
                <a:latin typeface="JetBrains Mono"/>
              </a:defRPr>
            </a:pPr>
            <a:r>
              <a:t>ACCURACY CHALLENGE</a:t>
            </a:r>
          </a:p>
          <a:p>
            <a:pPr>
              <a:spcBef>
                <a:spcPts val="800"/>
              </a:spcBef>
              <a:defRPr sz="1700" b="1">
                <a:solidFill>
                  <a:srgbClr val="EEF2F6"/>
                </a:solidFill>
                <a:latin typeface="Plus Jakarta Sans"/>
              </a:defRPr>
            </a:pPr>
            <a:r>
              <a:t>Forecast Inaccuracy</a:t>
            </a:r>
          </a:p>
          <a:p>
            <a:pPr>
              <a:spcBef>
                <a:spcPts val="1400"/>
              </a:spcBef>
              <a:defRPr sz="1200">
                <a:solidFill>
                  <a:srgbClr val="7A8BA3"/>
                </a:solidFill>
                <a:latin typeface="Plus Jakarta Sans"/>
              </a:defRPr>
            </a:pPr>
            <a:r>
              <a:t>Generic statistical models fail to model non-linear NOCT thermal derating and transient cloud occlusion, causing $1,200+ monthly losses in commercial peak demand tariff penalties.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A8"/>
                </a:solidFill>
                <a:latin typeface="JetBrains Mono"/>
              </a:defRPr>
            </a:pPr>
            <a:r>
              <a:t>COMPLIANCE &amp; ESG</a:t>
            </a:r>
          </a:p>
          <a:p>
            <a:pPr>
              <a:spcBef>
                <a:spcPts val="800"/>
              </a:spcBef>
              <a:defRPr sz="1700" b="1">
                <a:solidFill>
                  <a:srgbClr val="EEF2F6"/>
                </a:solidFill>
                <a:latin typeface="Plus Jakarta Sans"/>
              </a:defRPr>
            </a:pPr>
            <a:r>
              <a:t>Scope-2 Reporting Lag</a:t>
            </a:r>
          </a:p>
          <a:p>
            <a:pPr>
              <a:spcBef>
                <a:spcPts val="1400"/>
              </a:spcBef>
              <a:defRPr sz="1200">
                <a:solidFill>
                  <a:srgbClr val="7A8BA3"/>
                </a:solidFill>
                <a:latin typeface="Plus Jakarta Sans"/>
              </a:defRPr>
            </a:pPr>
            <a:r>
              <a:t>Inability to quantify real-time carbon avoidance (0.707 kg CO₂/kWh) leaves corporate ESG compliance vulnerable to regulatory scrutiny and audit penalties.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EF2F6"/>
                </a:solidFill>
                <a:latin typeface="Plus Jakarta Sans"/>
              </a:defRPr>
            </a:pPr>
            <a:r>
              <a:t>  Proposed Solution</a:t>
            </a:r>
          </a:p>
          <a:p>
            <a:pPr>
              <a:spcBef>
                <a:spcPts val="400"/>
              </a:spcBef>
              <a:defRPr sz="1300">
                <a:solidFill>
                  <a:srgbClr val="7A8BA3"/>
                </a:solidFill>
                <a:latin typeface="Plus Jakarta Sans"/>
              </a:defRPr>
            </a:pPr>
            <a:r>
              <a:t>The 'Glass-to-Grid' Autonomous SCADA &amp; Digital Twin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73152" cy="347472"/>
          </a:xfrm>
          <a:prstGeom prst="rect">
            <a:avLst/>
          </a:prstGeom>
          <a:solidFill>
            <a:srgbClr val="C9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5669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973E"/>
                </a:solidFill>
                <a:latin typeface="Plus Jakarta Sans"/>
              </a:defRPr>
            </a:pPr>
            <a:r>
              <a:t>1. Physics-First Kinematics</a:t>
            </a:r>
          </a:p>
          <a:p>
            <a:pPr>
              <a:spcBef>
                <a:spcPts val="200"/>
              </a:spcBef>
              <a:defRPr sz="1100">
                <a:solidFill>
                  <a:srgbClr val="7A8BA3"/>
                </a:solidFill>
                <a:latin typeface="Plus Jakarta Sans"/>
              </a:defRPr>
            </a:pPr>
            <a:r>
              <a:t>Solar declination geometry, zenith angle tracking (±45°), and empirical NOCT cell temperature derating.</a:t>
            </a:r>
          </a:p>
          <a:p>
            <a:pPr>
              <a:spcBef>
                <a:spcPts val="1200"/>
              </a:spcBef>
              <a:defRPr sz="1400" b="1">
                <a:solidFill>
                  <a:srgbClr val="4DD0E1"/>
                </a:solidFill>
                <a:latin typeface="Plus Jakarta Sans"/>
              </a:defRPr>
            </a:pPr>
            <a:r>
              <a:t>2. AI MLOps Forecasting</a:t>
            </a:r>
          </a:p>
          <a:p>
            <a:pPr>
              <a:spcBef>
                <a:spcPts val="200"/>
              </a:spcBef>
              <a:defRPr sz="1100">
                <a:solidFill>
                  <a:srgbClr val="7A8BA3"/>
                </a:solidFill>
                <a:latin typeface="Plus Jakarta Sans"/>
              </a:defRPr>
            </a:pPr>
            <a:r>
              <a:t>15-dimensional XGBoost Gradient Boosted Ensemble achieving 99.89% R² with P10/P90 quantile bounds.</a:t>
            </a:r>
          </a:p>
          <a:p>
            <a:pPr>
              <a:spcBef>
                <a:spcPts val="1200"/>
              </a:spcBef>
              <a:defRPr sz="1400" b="1">
                <a:solidFill>
                  <a:srgbClr val="C9973E"/>
                </a:solidFill>
                <a:latin typeface="Plus Jakarta Sans"/>
              </a:defRPr>
            </a:pPr>
            <a:r>
              <a:t>3. 3D WebGL Digital Twin</a:t>
            </a:r>
          </a:p>
          <a:p>
            <a:pPr>
              <a:spcBef>
                <a:spcPts val="200"/>
              </a:spcBef>
              <a:defRPr sz="1100">
                <a:solidFill>
                  <a:srgbClr val="7A8BA3"/>
                </a:solidFill>
                <a:latin typeface="Plus Jakarta Sans"/>
              </a:defRPr>
            </a:pPr>
            <a:r>
              <a:t>Photorealistic Three.js array with live module inspection and immersive 3D NOC Control Room.</a:t>
            </a:r>
          </a:p>
          <a:p>
            <a:pPr>
              <a:spcBef>
                <a:spcPts val="1200"/>
              </a:spcBef>
              <a:defRPr sz="1400" b="1">
                <a:solidFill>
                  <a:srgbClr val="2DD4A8"/>
                </a:solidFill>
                <a:latin typeface="Plus Jakarta Sans"/>
              </a:defRPr>
            </a:pPr>
            <a:r>
              <a:t>4. Sub-12ms Fault Mitigation</a:t>
            </a:r>
          </a:p>
          <a:p>
            <a:pPr>
              <a:spcBef>
                <a:spcPts val="200"/>
              </a:spcBef>
              <a:defRPr sz="1100">
                <a:solidFill>
                  <a:srgbClr val="7A8BA3"/>
                </a:solidFill>
                <a:latin typeface="Plus Jakarta Sans"/>
              </a:defRPr>
            </a:pPr>
            <a:r>
              <a:t>Edge-AI solid-state DC contactor isolation + 50 kWh BESS active power injection.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645920"/>
            <a:ext cx="4206240" cy="438912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C9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210312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9973E"/>
                </a:solidFill>
                <a:latin typeface="JetBrains Mono"/>
              </a:defRPr>
            </a:pPr>
            <a:r>
              <a:t>REFERENCE ASSET SPECIFICATION</a:t>
            </a:r>
          </a:p>
          <a:p>
            <a:pPr>
              <a:spcBef>
                <a:spcPts val="1000"/>
              </a:spcBef>
              <a:defRPr sz="2800" b="1">
                <a:solidFill>
                  <a:srgbClr val="EEF2F6"/>
                </a:solidFill>
                <a:latin typeface="Plus Jakarta Sans"/>
              </a:defRPr>
            </a:pPr>
            <a:r>
              <a:t>48.0 kW Peak DC</a:t>
            </a:r>
          </a:p>
          <a:p>
            <a:pPr>
              <a:spcBef>
                <a:spcPts val="1400"/>
              </a:spcBef>
              <a:defRPr sz="1100">
                <a:solidFill>
                  <a:srgbClr val="7A8BA3"/>
                </a:solidFill>
                <a:latin typeface="JetBrains Mono"/>
              </a:defRPr>
            </a:pPr>
            <a:r>
              <a:t>32 N-Type TOPCon Modules (4x8 Array)</a:t>
            </a:r>
            <a:br/>
            <a:r>
              <a:t>Chengalpattu Node • 12.82°N, 80.04°E</a:t>
            </a:r>
            <a:br/>
            <a:r>
              <a:t>50 kWh LiFePO4 BESS Storage Buffer</a:t>
            </a:r>
            <a:br/>
            <a:r>
              <a:t>Single-Axis Motorized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EF2F6"/>
                </a:solidFill>
                <a:latin typeface="Plus Jakarta Sans"/>
              </a:defRPr>
            </a:pPr>
            <a:r>
              <a:t>  Technical Approach &amp; Physics</a:t>
            </a:r>
          </a:p>
          <a:p>
            <a:pPr>
              <a:spcBef>
                <a:spcPts val="400"/>
              </a:spcBef>
              <a:defRPr sz="1300">
                <a:solidFill>
                  <a:srgbClr val="7A8BA3"/>
                </a:solidFill>
                <a:latin typeface="Plus Jakarta Sans"/>
              </a:defRPr>
            </a:pPr>
            <a:r>
              <a:t>First-principles photovoltaic thermodynamics + XGBoost Quantile Regression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73152" cy="347472"/>
          </a:xfrm>
          <a:prstGeom prst="rect">
            <a:avLst/>
          </a:prstGeom>
          <a:solidFill>
            <a:srgbClr val="C9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DD0E1"/>
                </a:solidFill>
                <a:latin typeface="JetBrains Mono"/>
              </a:defRPr>
            </a:pPr>
            <a:r>
              <a:t>ASTRONOMICAL SOLAR GEOMETRY</a:t>
            </a:r>
          </a:p>
          <a:p>
            <a:pPr>
              <a:spcBef>
                <a:spcPts val="400"/>
              </a:spcBef>
              <a:defRPr sz="1100">
                <a:solidFill>
                  <a:srgbClr val="EEF2F6"/>
                </a:solidFill>
                <a:latin typeface="JetBrains Mono"/>
              </a:defRPr>
            </a:pPr>
            <a:r>
              <a:t>δ = 23.45° · sin(360°/365 · (n - 81))</a:t>
            </a:r>
            <a:br/>
            <a:r>
              <a:t>AOI Factor = max(0, cos(θz)) · Tracker Rotation</a:t>
            </a:r>
          </a:p>
          <a:p>
            <a:pPr>
              <a:spcBef>
                <a:spcPts val="1600"/>
              </a:spcBef>
              <a:defRPr sz="1000" b="1">
                <a:solidFill>
                  <a:srgbClr val="C9973E"/>
                </a:solidFill>
                <a:latin typeface="JetBrains Mono"/>
              </a:defRPr>
            </a:pPr>
            <a:r>
              <a:t>NOCT THERMAL DERATING MODEL</a:t>
            </a:r>
          </a:p>
          <a:p>
            <a:pPr>
              <a:spcBef>
                <a:spcPts val="400"/>
              </a:spcBef>
              <a:defRPr sz="1100">
                <a:solidFill>
                  <a:srgbClr val="EEF2F6"/>
                </a:solidFill>
                <a:latin typeface="JetBrains Mono"/>
              </a:defRPr>
            </a:pPr>
            <a:r>
              <a:t>Tcell = Tamb + (NOCT - 20°C / 800) · GHI = Tamb + 0.0256 · GHI</a:t>
            </a:r>
            <a:br/>
            <a:r>
              <a:t>ηtemp = 1.0 - 0.0035 · (Tcell - 25.0°C)</a:t>
            </a:r>
          </a:p>
          <a:p>
            <a:pPr>
              <a:spcBef>
                <a:spcPts val="1600"/>
              </a:spcBef>
              <a:defRPr sz="1000" b="1">
                <a:solidFill>
                  <a:srgbClr val="2DD4A8"/>
                </a:solidFill>
                <a:latin typeface="JetBrains Mono"/>
              </a:defRPr>
            </a:pPr>
            <a:r>
              <a:t>NET ACTIVE AC GENERATION</a:t>
            </a:r>
          </a:p>
          <a:p>
            <a:pPr>
              <a:spcBef>
                <a:spcPts val="400"/>
              </a:spcBef>
              <a:defRPr sz="1100">
                <a:solidFill>
                  <a:srgbClr val="EEF2F6"/>
                </a:solidFill>
                <a:latin typeface="JetBrains Mono"/>
              </a:defRPr>
            </a:pPr>
            <a:r>
              <a:t>Pgen(t) = (GHI / 1000) · Pnameplate · (Nactive/Ntotal) · ηtemp · ηinv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C9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9973E"/>
                </a:solidFill>
                <a:latin typeface="JetBrains Mono"/>
              </a:defRPr>
            </a:pPr>
            <a:r>
              <a:t>XGBOOST FEATURE IMPORTANCE (GAIN)</a:t>
            </a:r>
          </a:p>
          <a:p>
            <a:pPr>
              <a:spcBef>
                <a:spcPts val="1200"/>
              </a:spcBef>
              <a:defRPr sz="1200" b="1">
                <a:solidFill>
                  <a:srgbClr val="C9973E"/>
                </a:solidFill>
                <a:latin typeface="JetBrains Mono"/>
              </a:defRPr>
            </a:pPr>
            <a:r>
              <a:t>Solar Zenith Angle (θz)  ──►  49.2%</a:t>
            </a:r>
          </a:p>
          <a:p>
            <a:pPr>
              <a:spcBef>
                <a:spcPts val="1200"/>
              </a:spcBef>
              <a:defRPr sz="1200" b="1">
                <a:solidFill>
                  <a:srgbClr val="C9973E"/>
                </a:solidFill>
                <a:latin typeface="JetBrains Mono"/>
              </a:defRPr>
            </a:pPr>
            <a:r>
              <a:t>Global Horizontal Irradiance (GHI)  ──►  46.1%</a:t>
            </a:r>
          </a:p>
          <a:p>
            <a:pPr>
              <a:spcBef>
                <a:spcPts val="1200"/>
              </a:spcBef>
              <a:defRPr sz="1200" b="1">
                <a:solidFill>
                  <a:srgbClr val="4DD0E1"/>
                </a:solidFill>
                <a:latin typeface="JetBrains Mono"/>
              </a:defRPr>
            </a:pPr>
            <a:r>
              <a:t>NOCT Cell Temperature (Tcell)  ──►  2.4%</a:t>
            </a:r>
          </a:p>
          <a:p>
            <a:pPr>
              <a:spcBef>
                <a:spcPts val="1200"/>
              </a:spcBef>
              <a:defRPr sz="1200" b="1">
                <a:solidFill>
                  <a:srgbClr val="4DD0E1"/>
                </a:solidFill>
                <a:latin typeface="JetBrains Mono"/>
              </a:defRPr>
            </a:pPr>
            <a:r>
              <a:t>Ambient Air Temperature  ──►  1.2%</a:t>
            </a:r>
          </a:p>
          <a:p>
            <a:pPr>
              <a:spcBef>
                <a:spcPts val="1200"/>
              </a:spcBef>
              <a:defRPr sz="1200" b="1">
                <a:solidFill>
                  <a:srgbClr val="4A5A72"/>
                </a:solidFill>
                <a:latin typeface="JetBrains Mono"/>
              </a:defRPr>
            </a:pPr>
            <a:r>
              <a:t>Cloud Cover Occlusion Index  ──►  1.1%</a:t>
            </a:r>
          </a:p>
          <a:p>
            <a:pPr>
              <a:spcBef>
                <a:spcPts val="2200"/>
              </a:spcBef>
              <a:defRPr sz="1100" b="1">
                <a:solidFill>
                  <a:srgbClr val="2DD4A8"/>
                </a:solidFill>
                <a:latin typeface="JetBrains Mono"/>
              </a:defRPr>
            </a:pPr>
            <a:r>
              <a:t>MODEL VALIDATION: R² = 99.89%  |  RMSE = 0.334 kW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EF2F6"/>
                </a:solidFill>
                <a:latin typeface="Plus Jakarta Sans"/>
              </a:defRPr>
            </a:pPr>
            <a:r>
              <a:t>  System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7A8BA3"/>
                </a:solidFill>
                <a:latin typeface="Plus Jakarta Sans"/>
              </a:defRPr>
            </a:pPr>
            <a:r>
              <a:t>High-throughput serverless 3-tier edge, cloud database, &amp; application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73152" cy="347472"/>
          </a:xfrm>
          <a:prstGeom prst="rect">
            <a:avLst/>
          </a:prstGeom>
          <a:solidFill>
            <a:srgbClr val="C9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365760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C9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973E"/>
                </a:solidFill>
                <a:latin typeface="JetBrains Mono"/>
              </a:defRPr>
            </a:pPr>
            <a:r>
              <a:t>TIER 1: EDGE LAYER</a:t>
            </a:r>
          </a:p>
          <a:p>
            <a:pPr>
              <a:spcBef>
                <a:spcPts val="1200"/>
              </a:spcBef>
              <a:defRPr sz="1200">
                <a:solidFill>
                  <a:srgbClr val="7A8BA3"/>
                </a:solidFill>
                <a:latin typeface="Plus Jakarta Sans"/>
              </a:defRPr>
            </a:pPr>
            <a:r>
              <a:t>• Modbus RTU Transducers</a:t>
            </a:r>
            <a:br/>
            <a:r>
              <a:t>• 100 Hz Sampling Sensors</a:t>
            </a:r>
            <a:br/>
            <a:r>
              <a:t>• Solid-State DC Contactors</a:t>
            </a:r>
            <a:br/>
            <a:r>
              <a:t>• Sub-12ms Fault Trip</a:t>
            </a:r>
            <a:br/>
            <a:r>
              <a:t>• 50 kWh BESS Storage 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365760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92024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DD0E1"/>
                </a:solidFill>
                <a:latin typeface="JetBrains Mono"/>
              </a:defRPr>
            </a:pPr>
            <a:r>
              <a:t>TIER 2: CLOUD DATA</a:t>
            </a:r>
          </a:p>
          <a:p>
            <a:pPr>
              <a:spcBef>
                <a:spcPts val="1200"/>
              </a:spcBef>
              <a:defRPr sz="1200">
                <a:solidFill>
                  <a:srgbClr val="7A8BA3"/>
                </a:solidFill>
                <a:latin typeface="Plus Jakarta Sans"/>
              </a:defRPr>
            </a:pPr>
            <a:r>
              <a:t>• Google Firebase Firestore</a:t>
            </a:r>
            <a:br/>
            <a:r>
              <a:t>• telemetry_logs Stream</a:t>
            </a:r>
            <a:br/>
            <a:r>
              <a:t>• scada_events Ledger</a:t>
            </a:r>
            <a:br/>
            <a:r>
              <a:t>• ml_model_versions Store</a:t>
            </a:r>
            <a:br/>
            <a:r>
              <a:t>• Zero Local Disk Footprint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365760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92024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A8"/>
                </a:solidFill>
                <a:latin typeface="JetBrains Mono"/>
              </a:defRPr>
            </a:pPr>
            <a:r>
              <a:t>TIER 3: PRESENTATION</a:t>
            </a:r>
          </a:p>
          <a:p>
            <a:pPr>
              <a:spcBef>
                <a:spcPts val="1200"/>
              </a:spcBef>
              <a:defRPr sz="1200">
                <a:solidFill>
                  <a:srgbClr val="7A8BA3"/>
                </a:solidFill>
                <a:latin typeface="Plus Jakarta Sans"/>
              </a:defRPr>
            </a:pPr>
            <a:r>
              <a:t>• React 18 + Vite Frontend</a:t>
            </a:r>
            <a:br/>
            <a:r>
              <a:t>• Three.js r170 WebGL Twin</a:t>
            </a:r>
            <a:br/>
            <a:r>
              <a:t>• Recharts P90 Envelopes</a:t>
            </a:r>
            <a:br/>
            <a:r>
              <a:t>• Obsidian Glass HMI</a:t>
            </a:r>
            <a:br/>
            <a:r>
              <a:t>• 3D Virtual Control Room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716768" cy="7315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57784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973E"/>
                </a:solidFill>
                <a:latin typeface="JetBrains Mono"/>
              </a:defRPr>
            </a:pPr>
            <a:r>
              <a:t>⚡ CONTINUOUS MLOPS: Automated XGBoost retraining triggered directly on Firestore updates with zero service downtime.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EF2F6"/>
                </a:solidFill>
                <a:latin typeface="Plus Jakarta Sans"/>
              </a:defRPr>
            </a:pPr>
            <a:r>
              <a:t>  Technology Stack</a:t>
            </a:r>
          </a:p>
          <a:p>
            <a:pPr>
              <a:spcBef>
                <a:spcPts val="400"/>
              </a:spcBef>
              <a:defRPr sz="1300">
                <a:solidFill>
                  <a:srgbClr val="7A8BA3"/>
                </a:solidFill>
                <a:latin typeface="Plus Jakarta Sans"/>
              </a:defRPr>
            </a:pPr>
            <a:r>
              <a:t>Production-grade, enterprise-tested technologies powering the full HELIOS 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73152" cy="347472"/>
          </a:xfrm>
          <a:prstGeom prst="rect">
            <a:avLst/>
          </a:prstGeom>
          <a:solidFill>
            <a:srgbClr val="C9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17373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C9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2677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EF2F6"/>
                </a:solidFill>
                <a:latin typeface="Plus Jakarta Sans"/>
              </a:defRPr>
            </a:pPr>
            <a:r>
              <a:t>React 18 + TS</a:t>
            </a:r>
          </a:p>
          <a:p>
            <a:pPr algn="ctr">
              <a:spcBef>
                <a:spcPts val="600"/>
              </a:spcBef>
              <a:defRPr sz="1000">
                <a:solidFill>
                  <a:srgbClr val="7A8BA3"/>
                </a:solidFill>
                <a:latin typeface="JetBrains Mono"/>
              </a:defRPr>
            </a:pPr>
            <a:r>
              <a:t>Component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42032" cy="17373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965960"/>
            <a:ext cx="22677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EF2F6"/>
                </a:solidFill>
                <a:latin typeface="Plus Jakarta Sans"/>
              </a:defRPr>
            </a:pPr>
            <a:r>
              <a:t>Three.js r170</a:t>
            </a:r>
          </a:p>
          <a:p>
            <a:pPr algn="ctr">
              <a:spcBef>
                <a:spcPts val="600"/>
              </a:spcBef>
              <a:defRPr sz="1000">
                <a:solidFill>
                  <a:srgbClr val="7A8BA3"/>
                </a:solidFill>
                <a:latin typeface="JetBrains Mono"/>
              </a:defRPr>
            </a:pPr>
            <a:r>
              <a:t>WebGL2 3D Graphics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42032" cy="17373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965960"/>
            <a:ext cx="22677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EF2F6"/>
                </a:solidFill>
                <a:latin typeface="Plus Jakarta Sans"/>
              </a:defRPr>
            </a:pPr>
            <a:r>
              <a:t>Firebase Firestore</a:t>
            </a:r>
          </a:p>
          <a:p>
            <a:pPr algn="ctr">
              <a:spcBef>
                <a:spcPts val="600"/>
              </a:spcBef>
              <a:defRPr sz="1000">
                <a:solidFill>
                  <a:srgbClr val="7A8BA3"/>
                </a:solidFill>
                <a:latin typeface="JetBrains Mono"/>
              </a:defRPr>
            </a:pPr>
            <a:r>
              <a:t>Serverless NoSQL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42032" cy="17373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C9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965960"/>
            <a:ext cx="22677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EF2F6"/>
                </a:solidFill>
                <a:latin typeface="Plus Jakarta Sans"/>
              </a:defRPr>
            </a:pPr>
            <a:r>
              <a:t>XGBoost ML</a:t>
            </a:r>
          </a:p>
          <a:p>
            <a:pPr algn="ctr">
              <a:spcBef>
                <a:spcPts val="600"/>
              </a:spcBef>
              <a:defRPr sz="1000">
                <a:solidFill>
                  <a:srgbClr val="7A8BA3"/>
                </a:solidFill>
                <a:latin typeface="JetBrains Mono"/>
              </a:defRPr>
            </a:pPr>
            <a:r>
              <a:t>Gradient Boost Regressor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2542032" cy="17373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77640"/>
            <a:ext cx="22677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EF2F6"/>
                </a:solidFill>
                <a:latin typeface="Plus Jakarta Sans"/>
              </a:defRPr>
            </a:pPr>
            <a:r>
              <a:t>FastAPI + Uvicorn</a:t>
            </a:r>
          </a:p>
          <a:p>
            <a:pPr algn="ctr">
              <a:spcBef>
                <a:spcPts val="600"/>
              </a:spcBef>
              <a:defRPr sz="1000">
                <a:solidFill>
                  <a:srgbClr val="7A8BA3"/>
                </a:solidFill>
                <a:latin typeface="JetBrains Mono"/>
              </a:defRPr>
            </a:pPr>
            <a:r>
              <a:t>Async High-Throughput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3657600"/>
            <a:ext cx="2542032" cy="17373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3977640"/>
            <a:ext cx="22677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EF2F6"/>
                </a:solidFill>
                <a:latin typeface="Plus Jakarta Sans"/>
              </a:defRPr>
            </a:pPr>
            <a:r>
              <a:t>Tailwind CSS</a:t>
            </a:r>
          </a:p>
          <a:p>
            <a:pPr algn="ctr">
              <a:spcBef>
                <a:spcPts val="600"/>
              </a:spcBef>
              <a:defRPr sz="1000">
                <a:solidFill>
                  <a:srgbClr val="7A8BA3"/>
                </a:solidFill>
                <a:latin typeface="JetBrains Mono"/>
              </a:defRPr>
            </a:pPr>
            <a:r>
              <a:t>Obsidian Design Tokens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3657600"/>
            <a:ext cx="2542032" cy="17373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C9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3977640"/>
            <a:ext cx="22677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EF2F6"/>
                </a:solidFill>
                <a:latin typeface="Plus Jakarta Sans"/>
              </a:defRPr>
            </a:pPr>
            <a:r>
              <a:t>Recharts</a:t>
            </a:r>
          </a:p>
          <a:p>
            <a:pPr algn="ctr">
              <a:spcBef>
                <a:spcPts val="600"/>
              </a:spcBef>
              <a:defRPr sz="1000">
                <a:solidFill>
                  <a:srgbClr val="7A8BA3"/>
                </a:solidFill>
                <a:latin typeface="JetBrains Mono"/>
              </a:defRPr>
            </a:pPr>
            <a:r>
              <a:t>SVG Telemetry Curves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3657600"/>
            <a:ext cx="2542032" cy="17373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3416" y="3977640"/>
            <a:ext cx="22677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EF2F6"/>
                </a:solidFill>
                <a:latin typeface="Plus Jakarta Sans"/>
              </a:defRPr>
            </a:pPr>
            <a:r>
              <a:t>Modbus RTU / MQTT</a:t>
            </a:r>
          </a:p>
          <a:p>
            <a:pPr algn="ctr">
              <a:spcBef>
                <a:spcPts val="600"/>
              </a:spcBef>
              <a:defRPr sz="1000">
                <a:solidFill>
                  <a:srgbClr val="7A8BA3"/>
                </a:solidFill>
                <a:latin typeface="JetBrains Mono"/>
              </a:defRPr>
            </a:pPr>
            <a:r>
              <a:t>Industrial Communications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60720"/>
            <a:ext cx="10716768" cy="5486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80644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A8"/>
                </a:solidFill>
                <a:latin typeface="JetBrains Mono"/>
              </a:defRPr>
            </a:pPr>
            <a:r>
              <a:t>STANDARDS COMPLIANCE: ✔ IEC 61724 (PV Performance Monitoring)   ✔ IEEE 1547 (Interconnection &amp; Interoperability)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EF2F6"/>
                </a:solidFill>
                <a:latin typeface="Plus Jakarta Sans"/>
              </a:defRPr>
            </a:pPr>
            <a:r>
              <a:t>  Feasibility &amp; Viability</a:t>
            </a:r>
          </a:p>
          <a:p>
            <a:pPr>
              <a:spcBef>
                <a:spcPts val="400"/>
              </a:spcBef>
              <a:defRPr sz="1300">
                <a:solidFill>
                  <a:srgbClr val="7A8BA3"/>
                </a:solidFill>
                <a:latin typeface="Plus Jakarta Sans"/>
              </a:defRPr>
            </a:pPr>
            <a:r>
              <a:t>Rigorous hardware cost, performance benchmarks, and regulatory viability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73152" cy="347472"/>
          </a:xfrm>
          <a:prstGeom prst="rect">
            <a:avLst/>
          </a:prstGeom>
          <a:solidFill>
            <a:srgbClr val="C9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1676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047488"/>
                <a:gridCol w="274320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C9973E"/>
                          </a:solidFill>
                          <a:latin typeface="JetBrains Mono"/>
                        </a:defRPr>
                      </a:pPr>
                      <a:r>
                        <a:t>Requirement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C9973E"/>
                          </a:solidFill>
                          <a:latin typeface="JetBrains Mono"/>
                        </a:defRPr>
                      </a:pPr>
                      <a:r>
                        <a:t>Our Solution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C9973E"/>
                          </a:solidFill>
                          <a:latin typeface="JetBrains Mono"/>
                        </a:defRPr>
                      </a:pPr>
                      <a:r>
                        <a:t>Status Benchmark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EF2F6"/>
                          </a:solidFill>
                          <a:latin typeface="Plus Jakarta Sans"/>
                        </a:defRPr>
                      </a:pPr>
                      <a:r>
                        <a:t>Grid Frequency Response</a:t>
                      </a:r>
                    </a:p>
                  </a:txBody>
                  <a:tcPr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EF2F6"/>
                          </a:solidFill>
                          <a:latin typeface="Plus Jakarta Sans"/>
                        </a:defRPr>
                      </a:pPr>
                      <a:r>
                        <a:t>0ms STS + 50 kWh BESS active injection</a:t>
                      </a:r>
                    </a:p>
                  </a:txBody>
                  <a:tcPr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D4A8"/>
                          </a:solidFill>
                          <a:latin typeface="JetBrains Mono"/>
                        </a:defRPr>
                      </a:pPr>
                      <a:r>
                        <a:t>✅ Exceeds IEEE 1547</a:t>
                      </a:r>
                    </a:p>
                  </a:txBody>
                  <a:tcPr anchor="ctr">
                    <a:solidFill>
                      <a:srgbClr val="0B122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EF2F6"/>
                          </a:solidFill>
                          <a:latin typeface="Plus Jakarta Sans"/>
                        </a:defRPr>
                      </a:pPr>
                      <a:r>
                        <a:t>Sensor Sampling Rate</a:t>
                      </a:r>
                    </a:p>
                  </a:txBody>
                  <a:tcPr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EF2F6"/>
                          </a:solidFill>
                          <a:latin typeface="Plus Jakarta Sans"/>
                        </a:defRPr>
                      </a:pPr>
                      <a:r>
                        <a:t>100 Hz RTU sensors (Industry std: 5 Hz)</a:t>
                      </a:r>
                    </a:p>
                  </a:txBody>
                  <a:tcPr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D4A8"/>
                          </a:solidFill>
                          <a:latin typeface="JetBrains Mono"/>
                        </a:defRPr>
                      </a:pPr>
                      <a:r>
                        <a:t>✅ 20x Industry Standard</a:t>
                      </a:r>
                    </a:p>
                  </a:txBody>
                  <a:tcPr anchor="ctr">
                    <a:solidFill>
                      <a:srgbClr val="0B122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EF2F6"/>
                          </a:solidFill>
                          <a:latin typeface="Plus Jakarta Sans"/>
                        </a:defRPr>
                      </a:pPr>
                      <a:r>
                        <a:t>Edge Hardware Cost</a:t>
                      </a:r>
                    </a:p>
                  </a:txBody>
                  <a:tcPr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EF2F6"/>
                          </a:solidFill>
                          <a:latin typeface="Plus Jakarta Sans"/>
                        </a:defRPr>
                      </a:pPr>
                      <a:r>
                        <a:t>Raspberry Pi 5 + Industrial Modbus Gateway</a:t>
                      </a:r>
                    </a:p>
                  </a:txBody>
                  <a:tcPr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D4A8"/>
                          </a:solidFill>
                          <a:latin typeface="JetBrains Mono"/>
                        </a:defRPr>
                      </a:pPr>
                      <a:r>
                        <a:t>✅ Under $120 / Node</a:t>
                      </a:r>
                    </a:p>
                  </a:txBody>
                  <a:tcPr anchor="ctr">
                    <a:solidFill>
                      <a:srgbClr val="0B122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EF2F6"/>
                          </a:solidFill>
                          <a:latin typeface="Plus Jakarta Sans"/>
                        </a:defRPr>
                      </a:pPr>
                      <a:r>
                        <a:t>Solar Farm Payback</a:t>
                      </a:r>
                    </a:p>
                  </a:txBody>
                  <a:tcPr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EF2F6"/>
                          </a:solidFill>
                          <a:latin typeface="Plus Jakarta Sans"/>
                        </a:defRPr>
                      </a:pPr>
                      <a:r>
                        <a:t>259.4 kWh/day ($46.70/day avoided cost)</a:t>
                      </a:r>
                    </a:p>
                  </a:txBody>
                  <a:tcPr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D4A8"/>
                          </a:solidFill>
                          <a:latin typeface="JetBrains Mono"/>
                        </a:defRPr>
                      </a:pPr>
                      <a:r>
                        <a:t>✅ ROI &lt; 3 Years</a:t>
                      </a:r>
                    </a:p>
                  </a:txBody>
                  <a:tcPr anchor="ctr">
                    <a:solidFill>
                      <a:srgbClr val="0B122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EF2F6"/>
                          </a:solidFill>
                          <a:latin typeface="Plus Jakarta Sans"/>
                        </a:defRPr>
                      </a:pPr>
                      <a:r>
                        <a:t>ML Model Accuracy</a:t>
                      </a:r>
                    </a:p>
                  </a:txBody>
                  <a:tcPr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EF2F6"/>
                          </a:solidFill>
                          <a:latin typeface="Plus Jakarta Sans"/>
                        </a:defRPr>
                      </a:pPr>
                      <a:r>
                        <a:t>R² = 99.89% (0.334 kW RMSE on out-of-sample)</a:t>
                      </a:r>
                    </a:p>
                  </a:txBody>
                  <a:tcPr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D4A8"/>
                          </a:solidFill>
                          <a:latin typeface="JetBrains Mono"/>
                        </a:defRPr>
                      </a:pPr>
                      <a:r>
                        <a:t>✅ Operationally Verified</a:t>
                      </a:r>
                    </a:p>
                  </a:txBody>
                  <a:tcPr anchor="ctr"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EF2F6"/>
                </a:solidFill>
                <a:latin typeface="Plus Jakarta Sans"/>
              </a:defRPr>
            </a:pPr>
            <a:r>
              <a:t>  Impact &amp; Value Creation</a:t>
            </a:r>
          </a:p>
          <a:p>
            <a:pPr>
              <a:spcBef>
                <a:spcPts val="400"/>
              </a:spcBef>
              <a:defRPr sz="1300">
                <a:solidFill>
                  <a:srgbClr val="7A8BA3"/>
                </a:solidFill>
                <a:latin typeface="Plus Jakarta Sans"/>
              </a:defRPr>
            </a:pPr>
            <a:r>
              <a:t>Delivering 360° value across financial arbitrage, operational reliability, and ESG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73152" cy="347472"/>
          </a:xfrm>
          <a:prstGeom prst="rect">
            <a:avLst/>
          </a:prstGeom>
          <a:solidFill>
            <a:srgbClr val="C9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C9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9973E"/>
                </a:solidFill>
                <a:latin typeface="JetBrains Mono"/>
              </a:defRPr>
            </a:pPr>
            <a:r>
              <a:t>$17,045</a:t>
            </a:r>
          </a:p>
          <a:p>
            <a:pPr>
              <a:spcBef>
                <a:spcPts val="400"/>
              </a:spcBef>
              <a:defRPr sz="1000">
                <a:solidFill>
                  <a:srgbClr val="7A8BA3"/>
                </a:solidFill>
                <a:latin typeface="JetBrains Mono"/>
              </a:defRPr>
            </a:pPr>
            <a:r>
              <a:t>ANNUAL PEAK TARIFF COST AVOIDANCE (COMMERCIAL GRID)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DD0E1"/>
                </a:solidFill>
                <a:latin typeface="JetBrains Mono"/>
              </a:defRPr>
            </a:pPr>
            <a:r>
              <a:t>66.9 MT</a:t>
            </a:r>
          </a:p>
          <a:p>
            <a:pPr>
              <a:spcBef>
                <a:spcPts val="400"/>
              </a:spcBef>
              <a:defRPr sz="1000">
                <a:solidFill>
                  <a:srgbClr val="7A8BA3"/>
                </a:solidFill>
                <a:latin typeface="JetBrains Mono"/>
              </a:defRPr>
            </a:pPr>
            <a:r>
              <a:t>SCOPE-2 CO₂ EMISSIONS AVOIDED ANNUALLY (NET ZERO IMPACT)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A8"/>
                </a:solidFill>
                <a:latin typeface="JetBrains Mono"/>
              </a:defRPr>
            </a:pPr>
            <a:r>
              <a:t>OPERATIONAL RELIABILITY METRICS</a:t>
            </a:r>
          </a:p>
          <a:p>
            <a:pPr>
              <a:spcBef>
                <a:spcPts val="1000"/>
              </a:spcBef>
              <a:defRPr sz="1300" b="1">
                <a:solidFill>
                  <a:srgbClr val="EEF2F6"/>
                </a:solidFill>
                <a:latin typeface="Plus Jakarta Sans"/>
              </a:defRPr>
            </a:pPr>
            <a:r>
              <a:t>• Sub-12ms Solid-State Fault Trip</a:t>
            </a:r>
          </a:p>
          <a:p>
            <a:pPr>
              <a:spcBef>
                <a:spcPts val="100"/>
              </a:spcBef>
              <a:defRPr sz="1000">
                <a:solidFill>
                  <a:srgbClr val="7A8BA3"/>
                </a:solidFill>
                <a:latin typeface="Plus Jakarta Sans"/>
              </a:defRPr>
            </a:pPr>
            <a:r>
              <a:t>   Eliminates reverse power grid injection penalties.</a:t>
            </a:r>
          </a:p>
          <a:p>
            <a:pPr>
              <a:spcBef>
                <a:spcPts val="1000"/>
              </a:spcBef>
              <a:defRPr sz="1300" b="1">
                <a:solidFill>
                  <a:srgbClr val="EEF2F6"/>
                </a:solidFill>
                <a:latin typeface="Plus Jakarta Sans"/>
              </a:defRPr>
            </a:pPr>
            <a:r>
              <a:t>• 80% Reduction in Troubleshooting Time</a:t>
            </a:r>
          </a:p>
          <a:p>
            <a:pPr>
              <a:spcBef>
                <a:spcPts val="100"/>
              </a:spcBef>
              <a:defRPr sz="1000">
                <a:solidFill>
                  <a:srgbClr val="7A8BA3"/>
                </a:solidFill>
                <a:latin typeface="Plus Jakarta Sans"/>
              </a:defRPr>
            </a:pPr>
            <a:r>
              <a:t>   String-level MLPE diagnosis points field technicians to exact module.</a:t>
            </a:r>
          </a:p>
          <a:p>
            <a:pPr>
              <a:spcBef>
                <a:spcPts val="1000"/>
              </a:spcBef>
              <a:defRPr sz="1300" b="1">
                <a:solidFill>
                  <a:srgbClr val="EEF2F6"/>
                </a:solidFill>
                <a:latin typeface="Plus Jakarta Sans"/>
              </a:defRPr>
            </a:pPr>
            <a:r>
              <a:t>• +18% to +26% Energy Yield Gain</a:t>
            </a:r>
          </a:p>
          <a:p>
            <a:pPr>
              <a:spcBef>
                <a:spcPts val="100"/>
              </a:spcBef>
              <a:defRPr sz="1000">
                <a:solidFill>
                  <a:srgbClr val="7A8BA3"/>
                </a:solidFill>
                <a:latin typeface="Plus Jakarta Sans"/>
              </a:defRPr>
            </a:pPr>
            <a:r>
              <a:t>   Single-axis motorized tracker optimization aligned with astronomical solar declination.</a:t>
            </a:r>
          </a:p>
          <a:p>
            <a:pPr>
              <a:spcBef>
                <a:spcPts val="1000"/>
              </a:spcBef>
              <a:defRPr sz="1300" b="1">
                <a:solidFill>
                  <a:srgbClr val="EEF2F6"/>
                </a:solidFill>
                <a:latin typeface="Plus Jakarta Sans"/>
              </a:defRPr>
            </a:pPr>
            <a:r>
              <a:t>• 100% Serverless Cloud Integration</a:t>
            </a:r>
          </a:p>
          <a:p>
            <a:pPr>
              <a:spcBef>
                <a:spcPts val="100"/>
              </a:spcBef>
              <a:defRPr sz="1000">
                <a:solidFill>
                  <a:srgbClr val="7A8BA3"/>
                </a:solidFill>
                <a:latin typeface="Plus Jakarta Sans"/>
              </a:defRPr>
            </a:pPr>
            <a:r>
              <a:t>   Zero-footprint Google Firebase real-time streaming architecture.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EF2F6"/>
                </a:solidFill>
                <a:latin typeface="Plus Jakarta Sans"/>
              </a:defRPr>
            </a:pPr>
            <a:r>
              <a:t>  Research &amp; Standards References</a:t>
            </a:r>
          </a:p>
          <a:p>
            <a:pPr>
              <a:spcBef>
                <a:spcPts val="400"/>
              </a:spcBef>
              <a:defRPr sz="1300">
                <a:solidFill>
                  <a:srgbClr val="7A8BA3"/>
                </a:solidFill>
                <a:latin typeface="Plus Jakarta Sans"/>
              </a:defRPr>
            </a:pPr>
            <a:r>
              <a:t>Grounded in peer-reviewed scientific literature and international engineering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73152" cy="347472"/>
          </a:xfrm>
          <a:prstGeom prst="rect">
            <a:avLst/>
          </a:prstGeom>
          <a:solidFill>
            <a:srgbClr val="C9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30368" cy="17373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C9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646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973E"/>
                </a:solidFill>
                <a:latin typeface="Plus Jakarta Sans"/>
              </a:defRPr>
            </a:pPr>
            <a:r>
              <a:t>IEC 61724 Standard</a:t>
            </a:r>
          </a:p>
          <a:p>
            <a:pPr>
              <a:spcBef>
                <a:spcPts val="600"/>
              </a:spcBef>
              <a:defRPr sz="1100">
                <a:solidFill>
                  <a:srgbClr val="7A8BA3"/>
                </a:solidFill>
                <a:latin typeface="Plus Jakarta Sans"/>
              </a:defRPr>
            </a:pPr>
            <a:r>
              <a:t>Photovoltaic System Performance Monitoring — Guidelines for measurement, data exchange, and capacity derating calculations.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30368" cy="17373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646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DD0E1"/>
                </a:solidFill>
                <a:latin typeface="Plus Jakarta Sans"/>
              </a:defRPr>
            </a:pPr>
            <a:r>
              <a:t>IEEE 1547 Standard</a:t>
            </a:r>
          </a:p>
          <a:p>
            <a:pPr>
              <a:spcBef>
                <a:spcPts val="600"/>
              </a:spcBef>
              <a:defRPr sz="1100">
                <a:solidFill>
                  <a:srgbClr val="7A8BA3"/>
                </a:solidFill>
                <a:latin typeface="Plus Jakarta Sans"/>
              </a:defRPr>
            </a:pPr>
            <a:r>
              <a:t>Standard for Interconnection and Interoperability of Distributed Energy Resources with Associated Electric Power Systems Interfaces.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5230368" cy="17373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48646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D4A8"/>
                </a:solidFill>
                <a:latin typeface="Plus Jakarta Sans"/>
              </a:defRPr>
            </a:pPr>
            <a:r>
              <a:t>NASA Helios Solar Data</a:t>
            </a:r>
          </a:p>
          <a:p>
            <a:pPr>
              <a:spcBef>
                <a:spcPts val="600"/>
              </a:spcBef>
              <a:defRPr sz="1100">
                <a:solidFill>
                  <a:srgbClr val="7A8BA3"/>
                </a:solidFill>
                <a:latin typeface="Plus Jakarta Sans"/>
              </a:defRPr>
            </a:pPr>
            <a:r>
              <a:t>Solar declination, zenith geometry, and atmospheric clear-sky attenuation models derived from NASA Deep Space Network kinematics.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57600"/>
            <a:ext cx="5230368" cy="17373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C9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840480"/>
            <a:ext cx="48646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973E"/>
                </a:solidFill>
                <a:latin typeface="Plus Jakarta Sans"/>
              </a:defRPr>
            </a:pPr>
            <a:r>
              <a:t>Open-Meteo Satellite Feed</a:t>
            </a:r>
          </a:p>
          <a:p>
            <a:pPr>
              <a:spcBef>
                <a:spcPts val="600"/>
              </a:spcBef>
              <a:defRPr sz="1100">
                <a:solidFill>
                  <a:srgbClr val="7A8BA3"/>
                </a:solidFill>
                <a:latin typeface="Plus Jakarta Sans"/>
              </a:defRPr>
            </a:pPr>
            <a:r>
              <a:t>State-of-the-art satellite irradiance data models (GHI, DNI, DHI, cloud index) utilized for continuous XGBoost ML feature training.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760720"/>
            <a:ext cx="10716768" cy="5486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80644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A72"/>
                </a:solidFill>
                <a:latin typeface="JetBrains Mono"/>
              </a:defRPr>
            </a:pPr>
            <a:r>
              <a:t>PEER-REVIEWED BENCHMARK: XGBoost Decision Tree Ensembles for Distributed Renewable Energy Forecasting (IEEE Access, 2024)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